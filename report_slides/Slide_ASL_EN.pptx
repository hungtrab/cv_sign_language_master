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Evaluating Modular Representation &amp; Recognizer Pipelines</a:t>
            </a:r>
            <a:br/>
            <a:r>
              <a:t>for ASL Alphabet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EE"/>
                </a:solidFill>
              </a:defRPr>
            </a:pPr>
            <a:r>
              <a:t>Computer Vision Capstone Project — 2025.2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Tran Quang Hung - 20235502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Do Dang Vu - 20235578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Le Hoang Tung - 20235572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C"/>
                </a:solidFill>
              </a:defRPr>
            </a:pPr>
            <a:r>
              <a:t>School of Information and Communication Technology — 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</a:t>
            </a:r>
          </a:p>
        </p:txBody>
      </p:sp>
      <p:pic>
        <p:nvPicPr>
          <p:cNvPr id="6" name="Picture 5" descr="asl_examples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85850"/>
            <a:ext cx="5029200" cy="276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02020"/>
                </a:solidFill>
              </a:defRPr>
            </a:pPr>
            <a:r>
              <a:t>• ASL is the primary communication medium for millions of Deaf and hard-of-hearing people.</a:t>
            </a:r>
          </a:p>
          <a:p>
            <a:pPr>
              <a:spcAft>
                <a:spcPts val="800"/>
              </a:spcAft>
              <a:defRPr sz="1900" b="0">
                <a:solidFill>
                  <a:srgbClr val="202020"/>
                </a:solidFill>
              </a:defRPr>
            </a:pPr>
            <a:r>
              <a:t>• Real-time recognition with only a webcam — no specialized hardware.</a:t>
            </a:r>
          </a:p>
          <a:p>
            <a:pPr>
              <a:spcAft>
                <a:spcPts val="800"/>
              </a:spcAft>
              <a:defRPr sz="1900" b="1">
                <a:solidFill>
                  <a:srgbClr val="C00000"/>
                </a:solidFill>
              </a:defRPr>
            </a:pPr>
            <a:r>
              <a:t>• Core question: does a “smarter” representation (hand-crop, landmarks, enhancement) actually improve recognition — or just add complexity and a new point of failure?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931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95959"/>
                </a:solidFill>
              </a:defRPr>
            </a:pPr>
            <a:r>
              <a:t>8 of the 26 ASL alphabet classes (A–H), test_split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Objective &amp;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F4E79"/>
                </a:solidFill>
              </a:defRPr>
            </a:pPr>
            <a:r>
              <a:t>Research question: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202020"/>
                </a:solidFill>
              </a:defRPr>
            </a:pPr>
            <a:r>
              <a:t>– Do better representations (hand-crop, landmarks, enhancement) really improve A–Z recognition, or do they only add complexity without adding value?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56616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52400"/>
          <a:lstStyle/>
          <a:p>
            <a:pPr algn="ctr">
              <a:defRPr b="1" sz="1700">
                <a:solidFill>
                  <a:srgbClr val="1F4E79"/>
                </a:solidFill>
              </a:defRPr>
            </a:pPr>
            <a:r>
              <a:t>1. Modular framework</a:t>
            </a:r>
          </a:p>
          <a:p>
            <a:pPr>
              <a:spcBef>
                <a:spcPts val="800"/>
              </a:spcBef>
              <a:defRPr sz="1400">
                <a:solidFill>
                  <a:srgbClr val="202020"/>
                </a:solidFill>
              </a:defRPr>
            </a:pPr>
            <a:r>
              <a:t>Representation and Recognizer are decoupled and freely swappable — 13 distinct pipelines evaluated under one protocol.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377440"/>
            <a:ext cx="356616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52400"/>
          <a:lstStyle/>
          <a:p>
            <a:pPr algn="ctr">
              <a:defRPr b="1" sz="1700">
                <a:solidFill>
                  <a:srgbClr val="1F4E79"/>
                </a:solidFill>
              </a:defRPr>
            </a:pPr>
            <a:r>
              <a:t>2. Multi-criteria evaluation</a:t>
            </a:r>
          </a:p>
          <a:p>
            <a:pPr>
              <a:spcBef>
                <a:spcPts val="800"/>
              </a:spcBef>
              <a:defRPr sz="1400">
                <a:solidFill>
                  <a:srgbClr val="202020"/>
                </a:solidFill>
              </a:defRPr>
            </a:pPr>
            <a:r>
              <a:t>Not just clean accuracy — macro-F1, robustness under 7–8 corruption types, hand-detection failure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377440"/>
            <a:ext cx="356616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52400"/>
          <a:lstStyle/>
          <a:p>
            <a:pPr algn="ctr">
              <a:defRPr b="1" sz="1700">
                <a:solidFill>
                  <a:srgbClr val="1F4E79"/>
                </a:solidFill>
              </a:defRPr>
            </a:pPr>
            <a:r>
              <a:t>3. Deep visual analysis</a:t>
            </a:r>
          </a:p>
          <a:p>
            <a:pPr>
              <a:spcBef>
                <a:spcPts val="800"/>
              </a:spcBef>
              <a:defRPr sz="1400">
                <a:solidFill>
                  <a:srgbClr val="202020"/>
                </a:solidFill>
              </a:defRPr>
            </a:pPr>
            <a:r>
              <a:t>Grad-CAM inside the CNN, UMAP/t-SNE of the feature space, step-by-step qualitative grids.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51206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371600"/>
              </a:tblGrid>
              <a:tr h="3962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t>ASL Alphabet (Kaggle) -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t>Train classifier / landmark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t>26 classes, ~78,000 img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t>ASL Alphabet - test_split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t>Clean + robustness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t>26 classes, 2,600 img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3774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020"/>
                </a:solidFill>
              </a:defRPr>
            </a:pPr>
            <a:r>
              <a:t>• Studio photos, clean background, even lighting → an “easy” dataset.</a:t>
            </a:r>
          </a:p>
          <a:p>
            <a:pPr>
              <a:spcAft>
                <a:spcPts val="800"/>
              </a:spcAft>
              <a:defRPr sz="1600" b="1">
                <a:solidFill>
                  <a:srgbClr val="C00000"/>
                </a:solidFill>
              </a:defRPr>
            </a:pPr>
            <a:r>
              <a:t>• Many pipelines reach 99–100% clean accuracy — robustness benchmarks, not clean accuracy, actually differentiate pipelines.</a:t>
            </a:r>
          </a:p>
        </p:txBody>
      </p:sp>
      <p:pic>
        <p:nvPicPr>
          <p:cNvPr id="8" name="Picture 7" descr="embedding_landmarks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62656"/>
            <a:ext cx="5943600" cy="2607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1722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595959"/>
                </a:solidFill>
              </a:defRPr>
            </a:pPr>
            <a:r>
              <a:t>UMAP / t-SNE of 42-d landmark features: the 26 classes form well-separated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Methodology: A Two-Module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RGB image  →  [ Representation Module ]  →  [ Recognizer Module ]  →  A–Z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1828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ctr">
              <a:defRPr b="1" sz="1800">
                <a:solidFill>
                  <a:srgbClr val="1F4E79"/>
                </a:solidFill>
              </a:defRPr>
            </a:pPr>
            <a:r>
              <a:t>Module 1: Representation</a:t>
            </a:r>
          </a:p>
          <a:p>
            <a:pPr>
              <a:spcBef>
                <a:spcPts val="1000"/>
              </a:spcBef>
              <a:defRPr sz="1500"/>
            </a:pPr>
            <a:r>
              <a:t>Turns the raw image into something the recognizer can use: a cropped image, an enhanced image, or a landmark feature vector.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5486400" cy="18288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ctr">
              <a:defRPr b="1" sz="1800">
                <a:solidFill>
                  <a:srgbClr val="1F4E79"/>
                </a:solidFill>
              </a:defRPr>
            </a:pPr>
            <a:r>
              <a:t>Module 2: Recognizer</a:t>
            </a:r>
          </a:p>
          <a:p>
            <a:pPr>
              <a:spcBef>
                <a:spcPts val="1000"/>
              </a:spcBef>
              <a:defRPr sz="1500"/>
            </a:pPr>
            <a:r>
              <a:t>Takes the representation's output and returns one of 26 A–Z labels with top-k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13 pipelines = valid (Representation × Recognizer) combinations, evaluated under one protocol on the same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Module 1 — Representation (4 types)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5</a:t>
            </a:r>
          </a:p>
        </p:txBody>
      </p:sp>
      <p:pic>
        <p:nvPicPr>
          <p:cNvPr id="6" name="Picture 5" descr="grid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96012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02020"/>
                </a:solidFill>
              </a:defRPr>
            </a:pPr>
            <a:r>
              <a:t>• Raw — resize only.   MediaPipe Crop — 21 keypoints → bbox → crop.   Landmarks — 42-d pose vector, no texture.   Enhancement — CLAHE/Gamma/Sharpen/Denoise.</a:t>
            </a:r>
          </a:p>
          <a:p>
            <a:pPr>
              <a:spcAft>
                <a:spcPts val="800"/>
              </a:spcAft>
              <a:defRPr sz="1400" b="1">
                <a:solidFill>
                  <a:srgbClr val="C00000"/>
                </a:solidFill>
              </a:defRPr>
            </a:pPr>
            <a:r>
              <a:t>• If MediaPipe finds no hand → representation returns None → recognizer outputs “Unknown” (always wrong).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Module 2 — Recognizer (5 types)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3657600"/>
                <a:gridCol w="2743200"/>
              </a:tblGrid>
              <a:tr h="3962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Recognizer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Model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ResNet18 (torchvision / resnet18_asl)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CNN, fine-tuned on ASL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224×224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SigLIP ViT (HuggingFace)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Vision Transformer, pretrained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224×224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Landmark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Small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42-d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Landmark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Support Vector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42-d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Landmark 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42-d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12772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ViT/SigLIP are pretrained on large-scale data — theoretical expectation: more accurate and more robust to noise than a small from-scratch-finetuned ResNet18.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Evaluation Metrics: How Accuracy Is Actually Computed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• The problem: the codebase's “standard” accuracy is computed only over images where a hand WAS detected — it drops “Unknown” images from both numerator and denominator.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1F4E79"/>
                </a:solidFill>
              </a:defRPr>
            </a:pPr>
            <a:r>
              <a:t>clean_accuracy = correct / (images WITH a detected hand)        real_accuracy = correct / (ALL images, Unknown = wrong)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772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hand_detection_failure_rate = fraction of images where the representation returned None (only applies to MediaPipe-based pipelines).</a:t>
            </a:r>
          </a:p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worst_corruption_accuracy = minimum accuracy across 7–8 corruption types (low-light, overexposure, motion-blur, gaussian-noise, rotation, scale-shift, partial-occlusion, crop-shift).</a:t>
            </a:r>
          </a:p>
          <a:p>
            <a:pPr>
              <a:spcAft>
                <a:spcPts val="800"/>
              </a:spcAft>
              <a:defRPr sz="1800" b="1">
                <a:solidFill>
                  <a:srgbClr val="C00000"/>
                </a:solidFill>
              </a:defRPr>
            </a:pPr>
            <a:r>
              <a:t>• Consequence: a pipeline can have very high clean_accuracy but a much lower real accuracy — see the case study in the Results section.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Quantitative Results — 13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517904"/>
                <a:gridCol w="1517904"/>
                <a:gridCol w="1517904"/>
                <a:gridCol w="1517904"/>
                <a:gridCol w="1517904"/>
              </a:tblGrid>
              <a:tr h="326571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Clean Acc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Worst-case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Hand-fail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FPS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raw_siglip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0.8912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enhancement_gamma_vit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0.8927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22.9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enhancement_clahe_vit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0.8629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raw_resnet18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222.3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enhancement_gamma_resnet18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enhancement_sharpen_resnet18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0.1010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244.6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enhancement_clahe_resnet18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0.7356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enhancement_denoise_resnet18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0.7012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mediapipe_crop_vit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0.9851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0.9707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C00000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17.15%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11.2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mediapipe_landmarks_rf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C00000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17.15%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mediapipe_landmarks_svm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C00000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17.15%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mediapipe_landmarks_mlp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0.9556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C00000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17.15%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mediapipe_crop_resnet18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0.8859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0.8627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C00000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17.15%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/>
                      </a:pPr>
                      <a: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Every MediaPipe-based pipeline collapses to 0% accuracy on the worst corruption — even pipelines with high clean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Accuracy Comparison Across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9</a:t>
            </a:r>
          </a:p>
        </p:txBody>
      </p:sp>
      <p:pic>
        <p:nvPicPr>
          <p:cNvPr id="6" name="Picture 5" descr="pipeline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586"/>
            <a:ext cx="11247120" cy="21629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Latency / FPS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pipeline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38986"/>
            <a:ext cx="11247120" cy="2162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Landmark-based (MLP/SVM/RF) and ResNet18-on-raw reach the highest FPS — suitable for real-time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Robustness Under Corruption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11</a:t>
            </a:r>
          </a:p>
        </p:txBody>
      </p:sp>
      <p:pic>
        <p:nvPicPr>
          <p:cNvPr id="6" name="Picture 5" descr="pipeline_robustn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586"/>
            <a:ext cx="11247120" cy="21629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Qualitative — Representation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12</a:t>
            </a:r>
          </a:p>
        </p:txBody>
      </p:sp>
      <p:pic>
        <p:nvPicPr>
          <p:cNvPr id="6" name="Picture 5" descr="grid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8046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Same 5 sample images, 7 transformations. The MediaPipe Crop/Landmarks columns are black on 3/5 rows — the hand was not detected in those (dark) images.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Qualitative — Recognizer Module (All 13 Pipelines)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13</a:t>
            </a:r>
          </a:p>
        </p:txBody>
      </p:sp>
      <p:pic>
        <p:nvPicPr>
          <p:cNvPr id="6" name="Picture 5" descr="grid_recog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5741"/>
            <a:ext cx="11247120" cy="44893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Green = correct, red = wrong. Every MediaPipe-based pipeline is wrong on the exact same 3 dark images — the failure propagates from the shared representation stage.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Case Study — “High Accuracy, Yet It Still Collapses”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14</a:t>
            </a:r>
          </a:p>
        </p:txBody>
      </p:sp>
      <p:pic>
        <p:nvPicPr>
          <p:cNvPr id="6" name="Picture 5" descr="compare_A909_hand_not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8220"/>
            <a:ext cx="6217920" cy="4530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09728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E79"/>
                </a:solidFill>
              </a:defRPr>
            </a:pPr>
            <a:r>
              <a:t>mediapipe_crop_vit: Clean Accuracy = 98.5%</a:t>
            </a:r>
          </a:p>
          <a:p>
            <a:pPr>
              <a:spcAft>
                <a:spcPts val="1400"/>
              </a:spcAft>
              <a:defRPr sz="1600" b="0">
                <a:solidFill>
                  <a:srgbClr val="202020"/>
                </a:solidFill>
              </a:defRPr>
            </a:pPr>
            <a:r>
              <a:t>But the real accuracy (counting Unknown as wrong):</a:t>
            </a:r>
          </a:p>
          <a:p>
            <a:pPr>
              <a:spcAft>
                <a:spcPts val="1400"/>
              </a:spcAft>
              <a:defRPr sz="2200" b="1">
                <a:solidFill>
                  <a:srgbClr val="C00000"/>
                </a:solidFill>
              </a:defRPr>
            </a:pPr>
            <a:r>
              <a:t>2110 / 2600 = 81.15%</a:t>
            </a:r>
          </a:p>
          <a:p>
            <a:pPr>
              <a:spcAft>
                <a:spcPts val="1400"/>
              </a:spcAft>
              <a:defRPr sz="1400" b="0">
                <a:solidFill>
                  <a:srgbClr val="595959"/>
                </a:solidFill>
              </a:defRPr>
            </a:pPr>
            <a:r>
              <a:t>17 percentage points lower than the headline number — because 17.15% of images where MediaPipe missed the hand are excluded from the standard accuracy.</a:t>
            </a:r>
          </a:p>
          <a:p>
            <a:pPr>
              <a:spcAft>
                <a:spcPts val="1400"/>
              </a:spcAft>
              <a:defRPr sz="1400" b="1">
                <a:solidFill>
                  <a:srgbClr val="1E7B34"/>
                </a:solidFill>
              </a:defRPr>
            </a:pPr>
            <a:r>
              <a:t>raw_resnet18 (no detection step) still correctly predicts “A” with 100% confidence on this exact image.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Looking Inside the CNN —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15</a:t>
            </a:r>
          </a:p>
        </p:txBody>
      </p:sp>
      <p:pic>
        <p:nvPicPr>
          <p:cNvPr id="6" name="Picture 5" descr="cnn_internals_raw_resnet18_P9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9504"/>
            <a:ext cx="11247120" cy="1332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raw_resnet18</a:t>
            </a:r>
          </a:p>
        </p:txBody>
      </p:sp>
      <p:pic>
        <p:nvPicPr>
          <p:cNvPr id="8" name="Picture 7" descr="cnn_internals_mediapipe_crop_resnet18_Z9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96943"/>
            <a:ext cx="11247120" cy="1332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mediapipe_crop_resnet18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Activation maps shrink from conv1 to layer4 (224→7), channels grow 64→512. Grad-CAM correctly highlights the hand region driving the prediction.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Feature Space — CNN Embeddings by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16</a:t>
            </a:r>
          </a:p>
        </p:txBody>
      </p:sp>
      <p:pic>
        <p:nvPicPr>
          <p:cNvPr id="6" name="Picture 5" descr="embedding_cnn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3809"/>
            <a:ext cx="11247120" cy="4933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512-d ResNet18 avgpool embeddings, 30 images/class. Classes separate just as clearly in deep feature space as in raw landmark space (compare to the Dataset slide).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More Qualitative Examples — B and 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17</a:t>
            </a:r>
          </a:p>
        </p:txBody>
      </p:sp>
      <p:pic>
        <p:nvPicPr>
          <p:cNvPr id="6" name="Picture 5" descr="compare_B9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1005840"/>
            <a:ext cx="5271247" cy="5120640"/>
          </a:xfrm>
          <a:prstGeom prst="rect">
            <a:avLst/>
          </a:prstGeom>
        </p:spPr>
      </p:pic>
      <p:pic>
        <p:nvPicPr>
          <p:cNvPr id="7" name="Picture 6" descr="compare_L9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181" y="1005840"/>
            <a:ext cx="4216997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Easy cases: good lighting → every pipeline (raw, crop, landmark, enhancement, ViT) predicts correctly.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Feature Space — Does Representation Shift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18</a:t>
            </a:r>
          </a:p>
        </p:txBody>
      </p:sp>
      <p:pic>
        <p:nvPicPr>
          <p:cNvPr id="6" name="Picture 5" descr="embedding_representatio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75211"/>
            <a:ext cx="8869680" cy="3890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Same images, 4 representations, same ResNet18 backbone. CLAHE/Gamma/Raw land in nearly the same tiny cluster (mild enhancement barely shifts the feature space) — MediaPipe Crop (orange) lands in a clearly different region: changing representation, not just enhancement, truly moves the feature space.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56616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b="1" sz="1600">
                <a:solidFill>
                  <a:srgbClr val="1F4E79"/>
                </a:solidFill>
              </a:defRPr>
            </a:pPr>
            <a:r>
              <a:t>Measure the right metric</a:t>
            </a:r>
          </a:p>
          <a:p>
            <a:pPr>
              <a:spcBef>
                <a:spcPts val="800"/>
              </a:spcBef>
              <a:defRPr sz="1300"/>
            </a:pPr>
            <a:r>
              <a:t>Standard “clean accuracy” can hide real-world failure — always also report accuracy counting Unknown as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097280"/>
            <a:ext cx="356616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b="1" sz="1600">
                <a:solidFill>
                  <a:srgbClr val="1F4E79"/>
                </a:solidFill>
              </a:defRPr>
            </a:pPr>
            <a:r>
              <a:t>Two-stage errors compound</a:t>
            </a:r>
          </a:p>
          <a:p>
            <a:pPr>
              <a:spcBef>
                <a:spcPts val="800"/>
              </a:spcBef>
              <a:defRPr sz="1300"/>
            </a:pPr>
            <a:r>
              <a:t>Adding a hand-detection step (MediaPipe) adds a new point of failure — robustness collapses to 0% even with a strong backbone.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097280"/>
            <a:ext cx="3566160" cy="2103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b="1" sz="1600">
                <a:solidFill>
                  <a:srgbClr val="1F4E79"/>
                </a:solidFill>
              </a:defRPr>
            </a:pPr>
            <a:r>
              <a:t>Simpler can be more robust</a:t>
            </a:r>
          </a:p>
          <a:p>
            <a:pPr>
              <a:spcBef>
                <a:spcPts val="800"/>
              </a:spcBef>
              <a:defRPr sz="1300"/>
            </a:pPr>
            <a:r>
              <a:t>Raw/enhancement + ResNet18/ViT never drops below ~70% accuracy even under the worst corruption.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11247120" cy="1005840"/>
          </a:xfrm>
          <a:prstGeom prst="roundRect">
            <a:avLst/>
          </a:prstGeom>
          <a:solidFill>
            <a:srgbClr val="FCECE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b="1" sz="1500">
                <a:solidFill>
                  <a:srgbClr val="C00000"/>
                </a:solidFill>
              </a:defRPr>
            </a:pPr>
            <a:r>
              <a:t>Limitations</a:t>
            </a:r>
          </a:p>
          <a:p>
            <a:pPr>
              <a:defRPr sz="1300"/>
            </a:pPr>
            <a:r>
              <a:t>Some representations are unfinished stubs (YOLO-crop, segmentation-mask, fusion); evaluation uses a single dataset (ASL Alphabet, studio photos).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11247120" cy="1005840"/>
          </a:xfrm>
          <a:prstGeom prst="roundRect">
            <a:avLst/>
          </a:prstGeom>
          <a:solidFill>
            <a:srgbClr val="ECF4FC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b="1" sz="1500">
                <a:solidFill>
                  <a:srgbClr val="2E75B6"/>
                </a:solidFill>
              </a:defRPr>
            </a:pPr>
            <a:r>
              <a:t>Future Work</a:t>
            </a:r>
          </a:p>
          <a:p>
            <a:pPr>
              <a:defRPr sz="1300"/>
            </a:pPr>
            <a:r>
              <a:t>Finish YOLO-crop/segmentation/fusion representations; evaluate on real-world (non-studio) webcam footage; add a raw-image fallback when MediaPipe fails to detect a hand.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Work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594360"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500"/>
                      </a:pPr>
                      <a:r>
                        <a:t>Tran Quang Hung - 20235502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/>
                      </a:pPr>
                      <a:r>
                        <a:t>YOLOv8 pipeline, dataset preparation, hand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500"/>
                      </a:pPr>
                      <a:r>
                        <a:t>Do Dang Vu - 20235578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/>
                      </a:pPr>
                      <a:r>
                        <a:t>Classifier (ResNet/MobileNet) &amp; transforms, robustness evaluation, 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500"/>
                      </a:pPr>
                      <a:r>
                        <a:t>Le Hoang Tung - 20235572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/>
                      </a:pPr>
                      <a:r>
                        <a:t>Demo (OpenCV/Gradio), evaluation pipeline,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[1] C. Lugaresi et al., “MediaPipe: A Framework for Building Perception Pipelines,” arXiv:1906.08172, 2019.</a:t>
            </a:r>
          </a:p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[2] K. He, X. Zhang, S. Ren, J. Sun, “Deep Residual Learning for Image Recognition,” CVPR, 2016.</a:t>
            </a:r>
          </a:p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[3] X. Zhai et al., “Sigmoid Loss for Language Image Pre-Training (SigLIP),” ICCV, 2023.</a:t>
            </a:r>
          </a:p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[4] Kaggle, “ASL Alphabet Dataset,” kaggle.com/datasets/grassknoted/asl-alphabet.</a:t>
            </a:r>
          </a:p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[5] L. McInnes, J. Healy, J. Melville, “UMAP: Uniform Manifold Approximation and Projection,” arXiv:1802.03426, 2018.</a:t>
            </a:r>
          </a:p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[6] L. van der Maaten, G. Hinton, “Visualizing Data using t-SNE,” JMLR, 2008.</a:t>
            </a:r>
          </a:p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</a:defRPr>
            </a:pPr>
            <a:r>
              <a:t>• [7] R. Selvaraju et al., “Grad-CAM: Visual Explanations from Deep Networks via Gradient-based Localization,” ICCV, 2017.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6200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Thank You — Questions Welcome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127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DDEE"/>
                </a:solidFill>
              </a:defRPr>
            </a:pPr>
            <a: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95959"/>
                </a:solidFill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Key takeaway:</a:t>
            </a:r>
          </a:p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Always report accuracy that counts detection failures as wrong, and validate robustness — not just clean-image accuracy — before claiming a pipeline is “better.”</a:t>
            </a:r>
          </a:p>
          <a:p>
            <a:pPr>
              <a:spcAft>
                <a:spcPts val="800"/>
              </a:spcAft>
              <a:defRPr sz="2000" b="1">
                <a:solidFill>
                  <a:srgbClr val="1F4E79"/>
                </a:solidFill>
              </a:defRPr>
            </a:pPr>
            <a:r>
              <a:t>Team:</a:t>
            </a:r>
          </a:p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Computer Vision Capstone — Hanoi University of Science and Technology</a:t>
            </a:r>
          </a:p>
          <a:p>
            <a:pPr>
              <a:spcAft>
                <a:spcPts val="800"/>
              </a:spcAft>
              <a:defRPr sz="1800" b="0">
                <a:solidFill>
                  <a:srgbClr val="202020"/>
                </a:solidFill>
              </a:defRPr>
            </a:pPr>
            <a:r>
              <a:t>• Github: https://github.com/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